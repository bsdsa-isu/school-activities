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581" y="2529929"/>
            <a:ext cx="2890837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714" y="3101429"/>
            <a:ext cx="4570571" cy="70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b="1" sz="4800" i="0" u="none">
                <a:solidFill>
                  <a:srgbClr val="0F172A"/>
                </a:solidFill>
                <a:latin typeface="Poppins"/>
              </a:rPr>
              <a:t>How Might 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1775" y="3992909"/>
            <a:ext cx="66484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Reframing User Pain Points into Actionable Innovation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5552" y="2118419"/>
            <a:ext cx="7160895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172A"/>
                </a:solidFill>
                <a:latin typeface="Poppins"/>
              </a:rPr>
              <a:t>What is "How Might We"?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42419"/>
            <a:ext cx="7143750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A structured reframing technique used between the Define and Ideate phases to spark creative brainstorming and constructive problem-solving.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9622"/>
            <a:ext cx="3492549" cy="32283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19622"/>
            <a:ext cx="3492549" cy="32283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19622"/>
            <a:ext cx="3492549" cy="32283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62522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62622"/>
            <a:ext cx="71008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"How"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10297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Assumes that solutions exist and we possess the capability to solve the challenge. It instills immediate optimism and a forward-looking orientation.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62522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362622"/>
            <a:ext cx="89011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"Might"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810297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Grants permission to explore wild, creative, and unconventional ideas without early judgment or commitment to a single outcome.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62522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362622"/>
            <a:ext cx="57007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"We"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810297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Emphasizes team collaboration and shared responsibility, reinforcing that innovation is a collective effort rather than an isolated task.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724447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5574" y="2724447"/>
            <a:ext cx="1905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1961" y="2724447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Deconstructing the Phrase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61370"/>
            <a:ext cx="5524500" cy="138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8007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The HMW Formula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25129"/>
            <a:ext cx="5524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1. Target User: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Ground the prompt in a specific persona discovered during user research.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73709"/>
            <a:ext cx="5524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2. Core Action / Need: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Address the root problem or friction point without prescribing a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22290"/>
            <a:ext cx="5524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3. Desired Impact: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Define the positive outcome or feeling you aim to deliver.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289970"/>
            <a:ext cx="532066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5F3FC"/>
                </a:solidFill>
                <a:latin typeface="Poppins"/>
              </a:rPr>
              <a:t>CORE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604295"/>
            <a:ext cx="5067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Inter SemiBold"/>
              </a:rPr>
              <a:t>How Might We + [User] + [Action/Need] + so that [Intended Impact]?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7054"/>
            <a:ext cx="5334000" cy="28935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87054"/>
            <a:ext cx="5334000" cy="2893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29954"/>
            <a:ext cx="4880610" cy="333375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F46E5"/>
                </a:solidFill>
                <a:latin typeface="Poppins SemiBold"/>
              </a:rPr>
              <a:t>Flawed Scopes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77629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Too Broad: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"How might we redesign education?"</a:t>
            </a:r>
            <a:r>
              <a:t>
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Result: Overwhelming, vague, and offers no clear starting point for brainstorming.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648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Too Narrow: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"How might we add a blue submit button?"</a:t>
            </a:r>
            <a:r>
              <a:t>
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Result: Presumes a fixed solution and kills creative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729954"/>
            <a:ext cx="4880610" cy="333375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F46E5"/>
                </a:solidFill>
                <a:latin typeface="Poppins SemiBold"/>
              </a:rPr>
              <a:t>Optimal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7629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Balanced HMW: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"How might we make homework management feel rewarding and achievable for busy students?"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114800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Why it Works: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It pinpoints the exact user distress while remaining agnostic about the final solution, unlocking dozens of inventive ideas.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77579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777579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Finding the "Sweet Spot"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393751"/>
            <a:ext cx="5048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Anchor in Real Research: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Base questions directly on empathy interviews and user observations.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113782"/>
            <a:ext cx="5048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Stay Solution-Agnostic: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Focus strictly on framing the challenge, not hinting at pet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833812"/>
            <a:ext cx="5048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Phrase Positively: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Use constructive verbs like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enhance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empower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or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simplify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instead of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prevent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or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reduce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553842"/>
            <a:ext cx="5048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Promote High Volume: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Ensure the question can spark at least 10–20 unique brainstorming ideas.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125" y="2346126"/>
            <a:ext cx="152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0" sz="210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3066157"/>
            <a:ext cx="152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0" sz="210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786187"/>
            <a:ext cx="152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0" sz="210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4506217"/>
            <a:ext cx="152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0" sz="210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4 Key Rules for Writing Strong HMWs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68065"/>
            <a:ext cx="11049000" cy="433149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677590"/>
          <a:ext cx="11029949" cy="4312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88332"/>
                <a:gridCol w="3970734"/>
                <a:gridCol w="3970883"/>
              </a:tblGrid>
              <a:tr h="107811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User Insight / Problem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Weak HMW (Flawed)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Strong HMW (Reframed)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107811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Users feel overwhelmed by long signup forms.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Too Narrow / Solution-led</a:t>
                      </a:r>
                      <a:r>
                        <a:t>
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
         How might we create a 2-step progress bar on signup?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Generative &amp; Positive</a:t>
                      </a:r>
                      <a:r>
                        <a:t>
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
         How might we make onboarding feel effortless and swift?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7811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Remote employees miss casual team bonding.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Too Broad</a:t>
                      </a:r>
                      <a:r>
                        <a:t>
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
         How might we fix remote work culture?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Balanced &amp; Focused</a:t>
                      </a:r>
                      <a:r>
                        <a:t>
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
         How might we create spontaneous moments of joy for remote workers?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10781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Patients get anxious waiting for lab results.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Negative Framing</a:t>
                      </a:r>
                      <a:r>
                        <a:t>
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
         How might we stop patients from worrying about tests?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Empathy &amp; Action-driven</a:t>
                      </a:r>
                      <a:r>
                        <a:t>
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
         How might we provide peace of mind during health waiting periods?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490019"/>
            <a:ext cx="3088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69357" y="3490019"/>
            <a:ext cx="39707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40091" y="3490019"/>
            <a:ext cx="3970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737645"/>
            <a:ext cx="3088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69357" y="4737645"/>
            <a:ext cx="39707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40091" y="4737645"/>
            <a:ext cx="3970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957" y="2428130"/>
            <a:ext cx="1914525" cy="28947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691" y="2428130"/>
            <a:ext cx="1581150" cy="28947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957" y="3812827"/>
            <a:ext cx="866775" cy="28947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8691" y="3675757"/>
            <a:ext cx="1514475" cy="28947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7957" y="4923383"/>
            <a:ext cx="1352550" cy="28947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8691" y="4923383"/>
            <a:ext cx="1838325" cy="2894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HMW Reframing Examples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787" y="4145160"/>
            <a:ext cx="4924425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0620" y="2217390"/>
            <a:ext cx="607075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F172A"/>
                </a:solidFill>
                <a:latin typeface="Poppins"/>
              </a:rPr>
              <a:t>Ready to Ideate!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2150" y="3398490"/>
            <a:ext cx="82677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F46E5"/>
                </a:solidFill>
                <a:latin typeface="Inter Medium"/>
              </a:rPr>
              <a:t>"How might we turn our next user pain point into a groundbreaking feature?"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54684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280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280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0322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097559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https://cdn.prod.website-files.com/64a30b704b78b8d713bcdb90/64a7404489994d4886c9d240_the-5-whys-behind-sticky-notes-in-design-thinking-and-how-to-best-use-them-banner.png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54136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www.differential.com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8696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8042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https://fuzzymath.com/wp-content/uploads/2020/08/IMG_6272-1-scaled.jpeg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2613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fuzzymath.com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